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5119350" cy="10691813"/>
  <p:notesSz cx="10691813" cy="151193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82" y="-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2157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10692079"/>
          </a:xfrm>
          <a:prstGeom prst="rect">
            <a:avLst/>
          </a:prstGeom>
          <a:solidFill>
            <a:srgbClr val="C0163B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0"/>
            <a:ext cx="11919204" cy="502920"/>
          </a:xfrm>
          <a:prstGeom prst="rect">
            <a:avLst/>
          </a:prstGeom>
          <a:solidFill>
            <a:srgbClr val="C0163B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" y="182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TapNOrder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" y="6583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5B8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Scan. Order. Relax.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" y="1051560"/>
            <a:ext cx="2743200" cy="27432"/>
          </a:xfrm>
          <a:prstGeom prst="rect">
            <a:avLst/>
          </a:prstGeom>
          <a:solidFill>
            <a:srgbClr val="E8A0B0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37160" y="11155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F5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7160" y="12984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Keerti Shekhamat &amp; Gaurav Singh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" y="14813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5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Mentor: Dr. Amit Singhal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7160" y="1719072"/>
            <a:ext cx="2743200" cy="27432"/>
          </a:xfrm>
          <a:prstGeom prst="rect">
            <a:avLst/>
          </a:prstGeom>
          <a:solidFill>
            <a:srgbClr val="E8A0B0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37160" y="17830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F5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7160" y="20116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Dine-in restaurants still rely heavily on manual processes, leading to delays and inefficiencies. Customers wait to place orders, group ordering is confusing, and there is limited real-time coordination between customers, staff, and the kitchen — resulting in a disconnected dining experience.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7160" y="32004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F5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USP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37160" y="34290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No-login access, shared real-time cart, mood-based menu, and interactive dining features make TapNOrder fast, simple, and engaging.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7160" y="42519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F5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37160" y="4480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· Git/GitHub · HTML · CSS · JavaScript · Bootstrap · Flask · Firebase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37160" y="5120640"/>
            <a:ext cx="2743200" cy="27432"/>
          </a:xfrm>
          <a:prstGeom prst="rect">
            <a:avLst/>
          </a:prstGeom>
          <a:solidFill>
            <a:srgbClr val="E8A0B0">
              <a:alpha val="6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" y="51937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F5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37160" y="542239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TapNOrder is a QR-based system that lets customers scan, order, request services, and pay directly from their phone — enabling fast, seamless, real-time dining.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7160" y="62910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F5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37160" y="651052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wait times, simplify group ordering, and improve real-time communication between customers and staff.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7160" y="71963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F5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37160" y="7424928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QR-based menu access with no login</a:t>
            </a:r>
            <a:endParaRPr lang="en-US" sz="8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Mood-based recommendations &amp; smart filters</a:t>
            </a:r>
            <a:endParaRPr lang="en-US" sz="8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real-time cart for group ordering</a:t>
            </a:r>
            <a:endParaRPr lang="en-US" sz="8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service requests + live bill &amp; split payment</a:t>
            </a:r>
            <a:endParaRPr lang="en-US" sz="8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Engagement: rewards, photos, interactive add-ons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37160" y="8613648"/>
            <a:ext cx="2743200" cy="27432"/>
          </a:xfrm>
          <a:prstGeom prst="rect">
            <a:avLst/>
          </a:prstGeom>
          <a:solidFill>
            <a:srgbClr val="E8A0B0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" y="86593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F5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37160" y="8887968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TapNOrder improves restaurant efficiency by reducing delays and simplifying ordering, creating a smoother and more engaging dining experience.</a:t>
            </a:r>
            <a:endParaRPr lang="en-US" sz="85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32" y="8796528"/>
            <a:ext cx="1170432" cy="1170432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856232" y="9985248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TO REPO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338328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TapNOrder — Scan. Order. Relax.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3383280" y="1097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QR-Based Smart Restaurant Ordering System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291840" y="594360"/>
            <a:ext cx="5760720" cy="274320"/>
          </a:xfrm>
          <a:prstGeom prst="rect">
            <a:avLst/>
          </a:prstGeom>
          <a:solidFill>
            <a:srgbClr val="C0163B"/>
          </a:solidFill>
          <a:ln/>
        </p:spPr>
      </p:sp>
      <p:sp>
        <p:nvSpPr>
          <p:cNvPr id="32" name="Text 29"/>
          <p:cNvSpPr/>
          <p:nvPr/>
        </p:nvSpPr>
        <p:spPr>
          <a:xfrm>
            <a:off x="3383280" y="62179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ANALYSIS &amp; PLANNING</a:t>
            </a:r>
            <a:endParaRPr lang="en-US" sz="110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914400"/>
            <a:ext cx="2788920" cy="210312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3291840" y="303580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Diagram</a:t>
            </a:r>
            <a:endParaRPr lang="en-US" sz="800" dirty="0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914400"/>
            <a:ext cx="2788920" cy="210312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172200" y="303580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Diagram</a:t>
            </a:r>
            <a:endParaRPr lang="en-US" sz="800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3291840"/>
            <a:ext cx="5760720" cy="210312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3291840" y="5413248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Diagram</a:t>
            </a:r>
            <a:endParaRPr lang="en-US" sz="800" dirty="0"/>
          </a:p>
        </p:txBody>
      </p:sp>
      <p:sp>
        <p:nvSpPr>
          <p:cNvPr id="39" name="Shape 33"/>
          <p:cNvSpPr/>
          <p:nvPr/>
        </p:nvSpPr>
        <p:spPr>
          <a:xfrm>
            <a:off x="9235440" y="594360"/>
            <a:ext cx="5747004" cy="274320"/>
          </a:xfrm>
          <a:prstGeom prst="rect">
            <a:avLst/>
          </a:prstGeom>
          <a:solidFill>
            <a:srgbClr val="C0163B"/>
          </a:solidFill>
          <a:ln/>
        </p:spPr>
      </p:sp>
      <p:sp>
        <p:nvSpPr>
          <p:cNvPr id="40" name="Text 34"/>
          <p:cNvSpPr/>
          <p:nvPr/>
        </p:nvSpPr>
        <p:spPr>
          <a:xfrm>
            <a:off x="9326880" y="621792"/>
            <a:ext cx="55641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&amp; IMPLEMENTATION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9189720" y="3654262"/>
            <a:ext cx="57470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Landing Page</a:t>
            </a:r>
            <a:endParaRPr lang="en-US" sz="800" dirty="0"/>
          </a:p>
        </p:txBody>
      </p:sp>
      <p:sp>
        <p:nvSpPr>
          <p:cNvPr id="44" name="Text 36"/>
          <p:cNvSpPr/>
          <p:nvPr/>
        </p:nvSpPr>
        <p:spPr>
          <a:xfrm>
            <a:off x="9326880" y="6777648"/>
            <a:ext cx="57470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Browsing UI</a:t>
            </a:r>
            <a:endParaRPr lang="en-US" sz="800" dirty="0"/>
          </a:p>
        </p:txBody>
      </p:sp>
      <p:sp>
        <p:nvSpPr>
          <p:cNvPr id="46" name="Text 37"/>
          <p:cNvSpPr/>
          <p:nvPr/>
        </p:nvSpPr>
        <p:spPr>
          <a:xfrm>
            <a:off x="9160002" y="9866213"/>
            <a:ext cx="57470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80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9471" y="8723213"/>
            <a:ext cx="5747004" cy="1325880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3388494" y="10173185"/>
            <a:ext cx="57470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Waiter Dashboard</a:t>
            </a:r>
            <a:endParaRPr lang="en-US" sz="800" dirty="0"/>
          </a:p>
        </p:txBody>
      </p:sp>
      <p:sp>
        <p:nvSpPr>
          <p:cNvPr id="49" name="Shape 39"/>
          <p:cNvSpPr/>
          <p:nvPr/>
        </p:nvSpPr>
        <p:spPr>
          <a:xfrm>
            <a:off x="3291840" y="5660136"/>
            <a:ext cx="5760720" cy="256032"/>
          </a:xfrm>
          <a:prstGeom prst="rect">
            <a:avLst/>
          </a:prstGeom>
          <a:solidFill>
            <a:srgbClr val="C0163B"/>
          </a:solidFill>
          <a:ln/>
        </p:spPr>
      </p:sp>
      <p:sp>
        <p:nvSpPr>
          <p:cNvPr id="50" name="Text 40"/>
          <p:cNvSpPr/>
          <p:nvPr/>
        </p:nvSpPr>
        <p:spPr>
          <a:xfrm>
            <a:off x="3383280" y="5687568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 OVERVIEW</a:t>
            </a:r>
            <a:endParaRPr lang="en-US" sz="950" dirty="0"/>
          </a:p>
        </p:txBody>
      </p:sp>
      <p:sp>
        <p:nvSpPr>
          <p:cNvPr id="51" name="Shape 41"/>
          <p:cNvSpPr/>
          <p:nvPr/>
        </p:nvSpPr>
        <p:spPr>
          <a:xfrm>
            <a:off x="3291840" y="5961888"/>
            <a:ext cx="1828800" cy="1261872"/>
          </a:xfrm>
          <a:prstGeom prst="rect">
            <a:avLst/>
          </a:prstGeom>
          <a:solidFill>
            <a:srgbClr val="FFF5F7"/>
          </a:solidFill>
          <a:ln w="12700">
            <a:solidFill>
              <a:srgbClr val="E8A0B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2" name="Shape 42"/>
          <p:cNvSpPr/>
          <p:nvPr/>
        </p:nvSpPr>
        <p:spPr>
          <a:xfrm>
            <a:off x="3291840" y="5961888"/>
            <a:ext cx="1828800" cy="256032"/>
          </a:xfrm>
          <a:prstGeom prst="rect">
            <a:avLst/>
          </a:prstGeom>
          <a:solidFill>
            <a:srgbClr val="F8D7DC"/>
          </a:solidFill>
          <a:ln/>
        </p:spPr>
      </p:sp>
      <p:sp>
        <p:nvSpPr>
          <p:cNvPr id="53" name="Text 43"/>
          <p:cNvSpPr/>
          <p:nvPr/>
        </p:nvSpPr>
        <p:spPr>
          <a:xfrm>
            <a:off x="3364992" y="599846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1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App</a:t>
            </a:r>
            <a:endParaRPr lang="en-US" sz="900" dirty="0"/>
          </a:p>
        </p:txBody>
      </p:sp>
      <p:sp>
        <p:nvSpPr>
          <p:cNvPr id="54" name="Text 44"/>
          <p:cNvSpPr/>
          <p:nvPr/>
        </p:nvSpPr>
        <p:spPr>
          <a:xfrm>
            <a:off x="3364992" y="626364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QR → Browse menu → Add to cart → Place order → Pay</a:t>
            </a:r>
            <a:endParaRPr lang="en-US" sz="800" dirty="0"/>
          </a:p>
        </p:txBody>
      </p:sp>
      <p:sp>
        <p:nvSpPr>
          <p:cNvPr id="55" name="Shape 45"/>
          <p:cNvSpPr/>
          <p:nvPr/>
        </p:nvSpPr>
        <p:spPr>
          <a:xfrm>
            <a:off x="5166360" y="5961888"/>
            <a:ext cx="1828800" cy="1261872"/>
          </a:xfrm>
          <a:prstGeom prst="rect">
            <a:avLst/>
          </a:prstGeom>
          <a:solidFill>
            <a:srgbClr val="FFF5F7"/>
          </a:solidFill>
          <a:ln w="12700">
            <a:solidFill>
              <a:srgbClr val="E8A0B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6" name="Shape 46"/>
          <p:cNvSpPr/>
          <p:nvPr/>
        </p:nvSpPr>
        <p:spPr>
          <a:xfrm>
            <a:off x="5166360" y="5961888"/>
            <a:ext cx="1828800" cy="256032"/>
          </a:xfrm>
          <a:prstGeom prst="rect">
            <a:avLst/>
          </a:prstGeom>
          <a:solidFill>
            <a:srgbClr val="F8D7DC"/>
          </a:solidFill>
          <a:ln/>
        </p:spPr>
      </p:sp>
      <p:sp>
        <p:nvSpPr>
          <p:cNvPr id="57" name="Text 47"/>
          <p:cNvSpPr/>
          <p:nvPr/>
        </p:nvSpPr>
        <p:spPr>
          <a:xfrm>
            <a:off x="5239512" y="599846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1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Server</a:t>
            </a:r>
            <a:endParaRPr lang="en-US" sz="900" dirty="0"/>
          </a:p>
        </p:txBody>
      </p:sp>
      <p:sp>
        <p:nvSpPr>
          <p:cNvPr id="58" name="Text 48"/>
          <p:cNvSpPr/>
          <p:nvPr/>
        </p:nvSpPr>
        <p:spPr>
          <a:xfrm>
            <a:off x="5239512" y="626364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REST API handles orders, sessions, payments, and notifications</a:t>
            </a:r>
            <a:endParaRPr lang="en-US" sz="800" dirty="0"/>
          </a:p>
        </p:txBody>
      </p:sp>
      <p:sp>
        <p:nvSpPr>
          <p:cNvPr id="59" name="Shape 49"/>
          <p:cNvSpPr/>
          <p:nvPr/>
        </p:nvSpPr>
        <p:spPr>
          <a:xfrm>
            <a:off x="7040880" y="5961888"/>
            <a:ext cx="1828800" cy="1261872"/>
          </a:xfrm>
          <a:prstGeom prst="rect">
            <a:avLst/>
          </a:prstGeom>
          <a:solidFill>
            <a:srgbClr val="FFF5F7"/>
          </a:solidFill>
          <a:ln w="12700">
            <a:solidFill>
              <a:srgbClr val="E8A0B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0" name="Shape 50"/>
          <p:cNvSpPr/>
          <p:nvPr/>
        </p:nvSpPr>
        <p:spPr>
          <a:xfrm>
            <a:off x="7040880" y="5961888"/>
            <a:ext cx="1828800" cy="256032"/>
          </a:xfrm>
          <a:prstGeom prst="rect">
            <a:avLst/>
          </a:prstGeom>
          <a:solidFill>
            <a:srgbClr val="F8D7DC"/>
          </a:solidFill>
          <a:ln/>
        </p:spPr>
      </p:sp>
      <p:sp>
        <p:nvSpPr>
          <p:cNvPr id="61" name="Text 51"/>
          <p:cNvSpPr/>
          <p:nvPr/>
        </p:nvSpPr>
        <p:spPr>
          <a:xfrm>
            <a:off x="7114032" y="599846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1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Kitchen Dashboard</a:t>
            </a:r>
            <a:endParaRPr lang="en-US" sz="900" dirty="0"/>
          </a:p>
        </p:txBody>
      </p:sp>
      <p:sp>
        <p:nvSpPr>
          <p:cNvPr id="62" name="Text 52"/>
          <p:cNvSpPr/>
          <p:nvPr/>
        </p:nvSpPr>
        <p:spPr>
          <a:xfrm>
            <a:off x="7114032" y="626364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order queue; staff update status: New → Preparing → Ready</a:t>
            </a:r>
            <a:endParaRPr lang="en-US" sz="800" dirty="0"/>
          </a:p>
        </p:txBody>
      </p:sp>
      <p:sp>
        <p:nvSpPr>
          <p:cNvPr id="63" name="Shape 53"/>
          <p:cNvSpPr/>
          <p:nvPr/>
        </p:nvSpPr>
        <p:spPr>
          <a:xfrm>
            <a:off x="3291840" y="7269480"/>
            <a:ext cx="1828800" cy="1261872"/>
          </a:xfrm>
          <a:prstGeom prst="rect">
            <a:avLst/>
          </a:prstGeom>
          <a:solidFill>
            <a:srgbClr val="FFF5F7"/>
          </a:solidFill>
          <a:ln w="12700">
            <a:solidFill>
              <a:srgbClr val="E8A0B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4" name="Shape 54"/>
          <p:cNvSpPr/>
          <p:nvPr/>
        </p:nvSpPr>
        <p:spPr>
          <a:xfrm>
            <a:off x="3291840" y="7269480"/>
            <a:ext cx="1828800" cy="256032"/>
          </a:xfrm>
          <a:prstGeom prst="rect">
            <a:avLst/>
          </a:prstGeom>
          <a:solidFill>
            <a:srgbClr val="F8D7DC"/>
          </a:solidFill>
          <a:ln/>
        </p:spPr>
      </p:sp>
      <p:sp>
        <p:nvSpPr>
          <p:cNvPr id="65" name="Text 55"/>
          <p:cNvSpPr/>
          <p:nvPr/>
        </p:nvSpPr>
        <p:spPr>
          <a:xfrm>
            <a:off x="3364992" y="730605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1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Panel</a:t>
            </a:r>
            <a:endParaRPr lang="en-US" sz="900" dirty="0"/>
          </a:p>
        </p:txBody>
      </p:sp>
      <p:sp>
        <p:nvSpPr>
          <p:cNvPr id="66" name="Text 56"/>
          <p:cNvSpPr/>
          <p:nvPr/>
        </p:nvSpPr>
        <p:spPr>
          <a:xfrm>
            <a:off x="3364992" y="7571232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Analytics, menu management, revenue reports, table management</a:t>
            </a:r>
            <a:endParaRPr lang="en-US" sz="800" dirty="0"/>
          </a:p>
        </p:txBody>
      </p:sp>
      <p:sp>
        <p:nvSpPr>
          <p:cNvPr id="67" name="Shape 57"/>
          <p:cNvSpPr/>
          <p:nvPr/>
        </p:nvSpPr>
        <p:spPr>
          <a:xfrm>
            <a:off x="5166360" y="7269480"/>
            <a:ext cx="1828800" cy="1261872"/>
          </a:xfrm>
          <a:prstGeom prst="rect">
            <a:avLst/>
          </a:prstGeom>
          <a:solidFill>
            <a:srgbClr val="FFF5F7"/>
          </a:solidFill>
          <a:ln w="12700">
            <a:solidFill>
              <a:srgbClr val="E8A0B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8" name="Shape 58"/>
          <p:cNvSpPr/>
          <p:nvPr/>
        </p:nvSpPr>
        <p:spPr>
          <a:xfrm>
            <a:off x="5166360" y="7269480"/>
            <a:ext cx="1828800" cy="256032"/>
          </a:xfrm>
          <a:prstGeom prst="rect">
            <a:avLst/>
          </a:prstGeom>
          <a:solidFill>
            <a:srgbClr val="F8D7DC"/>
          </a:solidFill>
          <a:ln/>
        </p:spPr>
      </p:sp>
      <p:sp>
        <p:nvSpPr>
          <p:cNvPr id="69" name="Text 59"/>
          <p:cNvSpPr/>
          <p:nvPr/>
        </p:nvSpPr>
        <p:spPr>
          <a:xfrm>
            <a:off x="5239512" y="730605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1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Waiter Dashboard</a:t>
            </a:r>
            <a:endParaRPr lang="en-US" sz="900" dirty="0"/>
          </a:p>
        </p:txBody>
      </p:sp>
      <p:sp>
        <p:nvSpPr>
          <p:cNvPr id="70" name="Text 60"/>
          <p:cNvSpPr/>
          <p:nvPr/>
        </p:nvSpPr>
        <p:spPr>
          <a:xfrm>
            <a:off x="5239512" y="7571232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active orders, handle service requests, update order status</a:t>
            </a:r>
            <a:endParaRPr lang="en-US" sz="800" dirty="0"/>
          </a:p>
        </p:txBody>
      </p:sp>
      <p:sp>
        <p:nvSpPr>
          <p:cNvPr id="71" name="Shape 61"/>
          <p:cNvSpPr/>
          <p:nvPr/>
        </p:nvSpPr>
        <p:spPr>
          <a:xfrm>
            <a:off x="7040880" y="7269480"/>
            <a:ext cx="1828800" cy="1261872"/>
          </a:xfrm>
          <a:prstGeom prst="rect">
            <a:avLst/>
          </a:prstGeom>
          <a:solidFill>
            <a:srgbClr val="FFF5F7"/>
          </a:solidFill>
          <a:ln w="12700">
            <a:solidFill>
              <a:srgbClr val="E8A0B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2" name="Shape 62"/>
          <p:cNvSpPr/>
          <p:nvPr/>
        </p:nvSpPr>
        <p:spPr>
          <a:xfrm>
            <a:off x="7040880" y="7269480"/>
            <a:ext cx="1828800" cy="256032"/>
          </a:xfrm>
          <a:prstGeom prst="rect">
            <a:avLst/>
          </a:prstGeom>
          <a:solidFill>
            <a:srgbClr val="F8D7DC"/>
          </a:solidFill>
          <a:ln/>
        </p:spPr>
      </p:sp>
      <p:sp>
        <p:nvSpPr>
          <p:cNvPr id="73" name="Text 63"/>
          <p:cNvSpPr/>
          <p:nvPr/>
        </p:nvSpPr>
        <p:spPr>
          <a:xfrm>
            <a:off x="7114032" y="730605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1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Gateway</a:t>
            </a:r>
            <a:endParaRPr lang="en-US" sz="900" dirty="0"/>
          </a:p>
        </p:txBody>
      </p:sp>
      <p:sp>
        <p:nvSpPr>
          <p:cNvPr id="74" name="Text 64"/>
          <p:cNvSpPr/>
          <p:nvPr/>
        </p:nvSpPr>
        <p:spPr>
          <a:xfrm>
            <a:off x="7114032" y="7571232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payment processing with live bill &amp; split payment support</a:t>
            </a:r>
            <a:endParaRPr lang="en-US" sz="800" dirty="0"/>
          </a:p>
        </p:txBody>
      </p:sp>
      <p:sp>
        <p:nvSpPr>
          <p:cNvPr id="75" name="Shape 65"/>
          <p:cNvSpPr/>
          <p:nvPr/>
        </p:nvSpPr>
        <p:spPr>
          <a:xfrm>
            <a:off x="0" y="10436047"/>
            <a:ext cx="15119604" cy="256032"/>
          </a:xfrm>
          <a:prstGeom prst="rect">
            <a:avLst/>
          </a:prstGeom>
          <a:solidFill>
            <a:srgbClr val="1A0A10"/>
          </a:solidFill>
          <a:ln/>
        </p:spPr>
      </p:sp>
      <p:sp>
        <p:nvSpPr>
          <p:cNvPr id="76" name="Text 66"/>
          <p:cNvSpPr/>
          <p:nvPr/>
        </p:nvSpPr>
        <p:spPr>
          <a:xfrm>
            <a:off x="182880" y="10454335"/>
            <a:ext cx="147538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TapNOrder  ·  Scan. Order. Relax.  ·  Keerti Shekhamat &amp; Gaurav Singh  ·  Mentor: Dr. Amit Singhal</a:t>
            </a:r>
            <a:endParaRPr lang="en-US" sz="800" dirty="0"/>
          </a:p>
        </p:txBody>
      </p:sp>
      <p:pic>
        <p:nvPicPr>
          <p:cNvPr id="77" name="Picture 7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245" y="1001400"/>
            <a:ext cx="5045879" cy="2607082"/>
          </a:xfrm>
          <a:prstGeom prst="rect">
            <a:avLst/>
          </a:prstGeom>
        </p:spPr>
      </p:pic>
      <p:pic>
        <p:nvPicPr>
          <p:cNvPr id="78" name="Picture 7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245" y="4105061"/>
            <a:ext cx="5139805" cy="2656478"/>
          </a:xfrm>
          <a:prstGeom prst="rect">
            <a:avLst/>
          </a:prstGeom>
        </p:spPr>
      </p:pic>
      <p:pic>
        <p:nvPicPr>
          <p:cNvPr id="79" name="Picture 7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244" y="7196328"/>
            <a:ext cx="5139805" cy="26142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365</Words>
  <Application>Microsoft Office PowerPoint</Application>
  <PresentationFormat>Custom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Georgia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4</cp:revision>
  <dcterms:created xsi:type="dcterms:W3CDTF">2026-04-30T07:16:41Z</dcterms:created>
  <dcterms:modified xsi:type="dcterms:W3CDTF">2026-04-30T08:26:51Z</dcterms:modified>
</cp:coreProperties>
</file>